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0" y="1645920"/>
            <a:ext cx="137160" cy="3474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63040" y="1645920"/>
            <a:ext cx="960120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Leelawadee UI"/>
              </a:defRPr>
            </a:pPr>
            <a:r>
              <a:rPr sz="1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โครงงานปริญญานิพนธ์วิศวกรรมศาสตร์</a:t>
            </a:r>
            <a:r>
              <a:rPr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| Capstone Project Defense</a:t>
            </a:r>
          </a:p>
          <a:p>
            <a:pPr>
              <a:spcBef>
                <a:spcPts val="1000"/>
              </a:spcBef>
              <a:defRPr sz="3000" b="1">
                <a:solidFill>
                  <a:srgbClr val="FFFFFF"/>
                </a:solidFill>
                <a:latin typeface="Leelawadee UI"/>
              </a:defRPr>
            </a:pPr>
            <a:r>
              <a:rPr sz="4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CareGuard</a:t>
            </a:r>
            <a:r>
              <a:rPr sz="4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sz="4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ระบบตรวจจับการล้มของผู้สูงอายุอัจฉริยะ</a:t>
            </a:r>
            <a:endParaRPr sz="4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600"/>
              </a:spcBef>
              <a:defRPr sz="1800">
                <a:solidFill>
                  <a:srgbClr val="CBD5E1"/>
                </a:solidFill>
                <a:latin typeface="Leelawadee UI"/>
              </a:defRPr>
            </a:pPr>
            <a:r>
              <a:rPr sz="3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ด้วยเทคโนโลยี</a:t>
            </a:r>
            <a:r>
              <a:rPr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3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TinyML</a:t>
            </a:r>
            <a:r>
              <a:rPr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3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แบบ</a:t>
            </a:r>
            <a:r>
              <a:rPr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Edge Computing </a:t>
            </a:r>
            <a:r>
              <a:rPr sz="3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และการแจ้งเตือนฉุกเฉินผ่านระบบคลาวด์</a:t>
            </a:r>
            <a:endParaRPr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800"/>
              </a:spcBef>
              <a:defRPr sz="1400" i="1">
                <a:solidFill>
                  <a:srgbClr val="0EA5E9"/>
                </a:solidFill>
                <a:latin typeface="Leelawadee UI"/>
              </a:defRPr>
            </a:pPr>
            <a:r>
              <a:rPr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Intelligent Fall Detection Wearable with Dual-Gating </a:t>
            </a:r>
            <a:r>
              <a:rPr sz="1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TinyML</a:t>
            </a:r>
            <a:r>
              <a:rPr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and Cloud Telemetry</a:t>
            </a:r>
          </a:p>
          <a:p>
            <a:pPr>
              <a:spcBef>
                <a:spcPts val="3000"/>
              </a:spcBef>
              <a:defRPr sz="1300">
                <a:solidFill>
                  <a:srgbClr val="94A3B8"/>
                </a:solidFill>
                <a:latin typeface="Leelawadee UI"/>
              </a:defRPr>
            </a:pPr>
            <a:r>
              <a:rPr sz="1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ผู้พัฒนา</a:t>
            </a:r>
            <a:r>
              <a:rPr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sz="1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นายธนภัทร</a:t>
            </a:r>
            <a:r>
              <a:rPr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เล็กสิงห์โต</a:t>
            </a:r>
            <a:r>
              <a:rPr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|  </a:t>
            </a:r>
            <a:r>
              <a:rPr sz="1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ที่ปรึกษา</a:t>
            </a:r>
            <a:r>
              <a:rPr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sz="1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คณะอาจารย์ประจำสาขาวิชาวิศวกรรมคอมพิวเตอร์</a:t>
            </a:r>
            <a:endParaRPr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9002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Leelawadee UI"/>
              </a:defRPr>
            </a:pPr>
            <a:r>
              <a:rPr sz="1050" dirty="0">
                <a:latin typeface="TH SarabunPSK" panose="020B0500040200020003" pitchFamily="34" charset="-34"/>
                <a:cs typeface="TH SarabunPSK" panose="020B0500040200020003" pitchFamily="34" charset="-34"/>
              </a:rPr>
              <a:t>01 / BACKGROUND &amp; MOTIVATION</a:t>
            </a:r>
          </a:p>
          <a:p>
            <a:pPr>
              <a:defRPr sz="2200" b="1">
                <a:solidFill>
                  <a:srgbClr val="0F172A"/>
                </a:solidFill>
                <a:latin typeface="Leelawadee UI"/>
              </a:defRPr>
            </a:pPr>
            <a:r>
              <a:rPr sz="4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ที่มา</a:t>
            </a:r>
            <a:r>
              <a:rPr sz="4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4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ความสำคัญ</a:t>
            </a:r>
            <a:r>
              <a:rPr sz="4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4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และปัญหาของการตรวจจับการล้มในปัจจุบัน</a:t>
            </a:r>
            <a:endParaRPr sz="4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42900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306324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Leelawadee UI"/>
              </a:defRPr>
            </a:pP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ปัญหาการล้มในผู้สูงอายุ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(Silent Threat)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สถิติ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WHO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ระบุว่าการล้มเป็นสาเหตุการเสียชีวิตอันดับ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2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จากอุบัติเหตุทั่วโลก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หากล้มแล้วนอนหมดสติเกิน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1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ชั่วโมง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(Long Lie)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เสี่ยงเสียชีวิตหรือพิการถาวรสูงขึ้น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50%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สังคมไทยเข้าสู่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Aging Society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เต็มรูปแบบ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ต้องการระบบเฝ้าระวัง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24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ชม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43400" y="1645920"/>
            <a:ext cx="342900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26280" y="1874520"/>
            <a:ext cx="306324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Leelawadee UI"/>
              </a:defRPr>
            </a:pP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ข้อจำกัดของระบบเดิมในท้องตลาด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กล้อง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CCTV AI: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ละเมิดความเป็นส่วนตัว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ไม่สามารถติดในห้องน้ำหรือห้องนอนได้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ระบบ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Threshold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พื้นฐาน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แจ้งเตือนผิดพลาด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(False Alarm)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สูงมาก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เช่น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แค่นั่งแรงๆ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หรือนอนลง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• Smartwatch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ทั่วไป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ราคาสูง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แบตเตอรี่หมดไว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ต้องชาร์จทุกวัน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และต้องพึ่งพาสมาร์ทโฟน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955280" y="1645920"/>
            <a:ext cx="342900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60" y="1874520"/>
            <a:ext cx="306324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Leelawadee UI"/>
              </a:defRPr>
            </a:pP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แนวคิดแก้ไขด้วย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CareGuard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อุปกรณ์สวมใส่ต้นทุนต่ำ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(Low-Cost Wearable)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ตรวจจับการเคลื่อนไหว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3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มิติ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ประมวลผล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AI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บนชิป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ESP32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โดยตรง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(Edge Computing)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ทำงานได้โดยไม่ต้องต่อเน็ต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ระบบ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Dual-Gating Protection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กรองแรงกระแทกจริง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ร่วมกับโมเดล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TinyML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ลด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False Alarm 100%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Leelawadee UI"/>
              </a:defRPr>
            </a:pPr>
            <a:r>
              <a:rPr sz="1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02 / SYSTEM OVERVIEW</a:t>
            </a:r>
          </a:p>
          <a:p>
            <a:pPr>
              <a:defRPr sz="2200" b="1">
                <a:solidFill>
                  <a:srgbClr val="0F172A"/>
                </a:solidFill>
                <a:latin typeface="Leelawadee UI"/>
              </a:defRPr>
            </a:pPr>
            <a:r>
              <a:rPr sz="4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สถาปัตยกรรมการทำงานร่วมกันทั้งระบบ</a:t>
            </a:r>
            <a:r>
              <a:rPr sz="4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(System Architecture)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749039" cy="3752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Leelawadee UI"/>
              </a:defRPr>
            </a:pPr>
            <a:r>
              <a:rPr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โครงสร้างระบบ</a:t>
            </a:r>
            <a:r>
              <a:rPr dirty="0">
                <a:latin typeface="TH SarabunPSK" panose="020B0500040200020003" pitchFamily="34" charset="-34"/>
                <a:cs typeface="TH SarabunPSK" panose="020B0500040200020003" pitchFamily="34" charset="-34"/>
              </a:rPr>
              <a:t> 3 </a:t>
            </a:r>
            <a:r>
              <a:rPr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ลำดับชั้น</a:t>
            </a:r>
            <a:r>
              <a:rPr dirty="0">
                <a:latin typeface="TH SarabunPSK" panose="020B0500040200020003" pitchFamily="34" charset="-34"/>
                <a:cs typeface="TH SarabunPSK" panose="020B0500040200020003" pitchFamily="34" charset="-34"/>
              </a:rPr>
              <a:t> (3-Tier Layer)</a:t>
            </a:r>
          </a:p>
          <a:p>
            <a:pPr>
              <a:spcBef>
                <a:spcPts val="5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1. Perception &amp; Edge AI Layer (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ฮาร์ดแวร์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):</a:t>
            </a:r>
          </a:p>
          <a:p>
            <a:pPr>
              <a:spcBef>
                <a:spcPts val="5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ESP32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รัน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FreeRTOS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แบ่ง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2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แกนอิสระ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5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MPU-6050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สุ่มตัวอย่าง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25 Hz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ตรวจจับ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6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แกน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5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ประมวลผล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TinyML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บนชิป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ไม่ต้องพึ่งพาคลาวด์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5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2. Cloud &amp; Messaging Layer (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เครือข่ายและคลาวด์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):</a:t>
            </a:r>
          </a:p>
          <a:p>
            <a:pPr>
              <a:spcBef>
                <a:spcPts val="5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Firebase Realtime Database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ซิงก์สถานะ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5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Telegram Bot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ส่งภาพพิกัดฉุกเฉินถึงญาติทันที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5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Wi-Fi Geolocation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สำรองพิกัดเมื่อไม่มีสัญญาณ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GPS</a:t>
            </a:r>
          </a:p>
          <a:p>
            <a:pPr>
              <a:spcBef>
                <a:spcPts val="5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3. Application Layer (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เว็บแอพพลิเคชัน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):</a:t>
            </a:r>
          </a:p>
          <a:p>
            <a:pPr>
              <a:spcBef>
                <a:spcPts val="5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CareGuard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Web Dashboard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ติดตามแบบสด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5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บันทึกประวัติและจัดการระบบยกเลิกการเตือน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5" name="Picture 4" descr="diagram_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6400800" cy="38004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92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Leelawadee UI"/>
              </a:defRPr>
            </a:pPr>
            <a:r>
              <a:rPr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03 / DATASET ENGINEERING</a:t>
            </a:r>
          </a:p>
          <a:p>
            <a:pPr>
              <a:defRPr sz="2200" b="1">
                <a:solidFill>
                  <a:srgbClr val="0F172A"/>
                </a:solidFill>
                <a:latin typeface="Leelawadee UI"/>
              </a:defRPr>
            </a:pPr>
            <a:r>
              <a:rPr sz="4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ระบบการเก็บรวบรวมและสร้างชุดข้อมูลเซ็นเซอร์</a:t>
            </a:r>
            <a:r>
              <a:rPr sz="4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(Data Collection)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Leelawadee UI"/>
              </a:defRPr>
            </a:pPr>
            <a:r>
              <a:rPr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ทำไมต้องพัฒนาระบบเก็บข้อมูลเอง</a:t>
            </a:r>
            <a:r>
              <a:rPr dirty="0">
                <a:latin typeface="TH SarabunPSK" panose="020B0500040200020003" pitchFamily="34" charset="-34"/>
                <a:cs typeface="TH SarabunPSK" panose="020B0500040200020003" pitchFamily="34" charset="-34"/>
              </a:rPr>
              <a:t>?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ข้อจำกัดของชุดข้อมูลสาธารณะ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(Public Datasets):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SisFall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/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MobiFall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เก็บจากอาสาสมัครต่างชาติและใช้เซ็นเซอร์คนละรุ่น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• ตำแหน่งการติดอุปกรณ์และพฤติกรรมการเคลื่อนไหวของคนไทยมีความจำเพาะ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ขาดมิติข้อมูลการทำกิจกรรมในชีวิตประจำวัน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(ADL)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สภาพแวดล้อมจริงในบ้าน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โซลูชัน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พัฒนาเครื่องมือเก็บข้อมูล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2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ส่วนประสานกัน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CollectData_Hardware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อุปกรณ์สวมใส่บันทึกเซ็นเซอร์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25Hz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พร้อมแฟลชสำรอง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CollectData_Web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ระบบคลาวด์รับข้อมูลแบบเรียลไทม์พร้อม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Auto-Labeling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ผลลัพธ์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ได้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Custom Dataset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คุณภาพสูงนำไปรวมเป็น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Hybrid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3611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Leelawadee UI"/>
              </a:defRPr>
            </a:pPr>
            <a:r>
              <a:rPr>
                <a:latin typeface="TH SarabunPSK" panose="020B0500040200020003" pitchFamily="34" charset="-34"/>
                <a:cs typeface="TH SarabunPSK" panose="020B0500040200020003" pitchFamily="34" charset="-34"/>
              </a:rPr>
              <a:t>โครงสร้างชุดข้อมูลและลักษณะการเคลื่อนไหว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1. คลาสการล้ม (Fall Events - Label 1):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• Forward Fall (ล้มไปข้างหน้า สะดุดล้ม)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• Backward Fall (ล้มหงายหลัง ลื่นล้ม)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• Lateral Fall (ล้มเอียงไปด้านข้างซ้าย/ขวา)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• Syncope / Faint Fall (การเป็นลมหมดสติ ทรุดตัวลง)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2. คลาสกิจกรรมปกติ (ADL - Label 0):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• Walking / Jogging (การเดินปกติ, ก้าวเร็ว)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• Sitting / Standing (นั่งลงบนเก้าอี้, ลุกขึ้นยืน)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• Lying down / Rolling (นอนลงบนเตียง, พลิกตัว)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• Bending / Picking up (ก้มเก็บสิ่งของ, ผูกเชือกรองเท้า)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• Jumping / Stumbling (กระโดดเบาๆ, สะดุดแต่ไม่ล้ม)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00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Leelawadee UI"/>
              </a:defRPr>
            </a:pPr>
            <a:r>
              <a:rPr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04 / DATA COLLECTION HARDWARE</a:t>
            </a:r>
          </a:p>
          <a:p>
            <a:pPr>
              <a:defRPr sz="2200" b="1">
                <a:solidFill>
                  <a:srgbClr val="0F172A"/>
                </a:solidFill>
                <a:latin typeface="Leelawadee UI"/>
              </a:defRPr>
            </a:pPr>
            <a:r>
              <a:rPr sz="4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สถาปัตยกรรมอุปกรณ์เก็บข้อมูล</a:t>
            </a:r>
            <a:r>
              <a:rPr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</a:t>
            </a:r>
            <a:r>
              <a:rPr sz="4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CollectData_Hardware</a:t>
            </a:r>
            <a:r>
              <a:rPr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Architecture)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42062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979974"/>
            <a:ext cx="384048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Leelawadee UI"/>
              </a:defRPr>
            </a:pP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จุดเด่นสถาปัตยกรรม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CollectData_Hardware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1. Core 1: Sensor &amp; Pre-processing (25 Hz):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ควบคุมความถี่สุ่มตัวอย่างคงที่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40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ms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อย่างแม่นยำ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กรองสัญญาณรบกวนและชดเชยค่า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Calibrate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2. Circular Buffer 50 Samples (2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วินาที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บันทึกย้อนหลังเก็บทั้ง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Pre-fall, Impact, Post-fall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ให้รูปคลื่นการเคลื่อนไหวครบถ้วนสมบูรณ์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3. Flash Sync Guard (Physical Filter):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สแกนหา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Peak Magnitude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ใน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Window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ตัดข้อมูลที่มีแรงกระแทก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&lt; 1.8G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ทิ้งทันที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บันทึกเฉพาะข้อมูลที่มีนัยสำคัญลง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LittleFS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Flash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4. Core 0: Batch Sync to Server: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ทรานสเฟอร์ข้อมูลผ่าน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WiFi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ไปยัง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Server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โดยไม่กระตุก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5" name="Picture 4" descr="diagram_6_collectdata_hard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7145796" cy="42428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00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Leelawadee UI"/>
              </a:defRPr>
            </a:pPr>
            <a:r>
              <a:rPr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05 / DATA COLLECTION WEB</a:t>
            </a:r>
          </a:p>
          <a:p>
            <a:pPr>
              <a:defRPr sz="2200" b="1">
                <a:solidFill>
                  <a:srgbClr val="0F172A"/>
                </a:solidFill>
                <a:latin typeface="Leelawadee UI"/>
              </a:defRPr>
            </a:pPr>
            <a:r>
              <a:rPr sz="4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ระบบเว็บแอพพลิเคชันบันทึกข้อมูล</a:t>
            </a:r>
            <a:r>
              <a:rPr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</a:t>
            </a:r>
            <a:r>
              <a:rPr sz="4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CollectData_Web</a:t>
            </a:r>
            <a:r>
              <a:rPr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Architecture)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42062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84048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Leelawadee UI"/>
              </a:defRPr>
            </a:pP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กลไกการรับและจัดการข้อมูลของ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CollectData_Web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1. Dual Ingestion Engine: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WebSocket: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รับข้อมูลสตรีมมิ่งสด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25 Hz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มาพล็อตเรียลไทม์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REST API: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รับก้อนข้อมูลแบบ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Batch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จาก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Flash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ของอุปกรณ์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2. Session &amp; Subject Controller: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กำหนดรหัสผู้ทดสอบ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(Subject ID)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และประเภทกิจกรรม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รองรับการทดสอบซ้ำหลายรอบอย่างเป็นระบบ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3. Auto-Labeling Engine: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แปะป้าย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Label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อัตโนมัติ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(1 = Fall, 0 = ADL)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ระบุ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Timestamp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และ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Device ID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กำกับทุกเรคอร์ด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4. Live Visualizer &amp; CSV Exporter: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พล็อตกราฟ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3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แกนแบบสด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ช่วยให้ตรวจสอบคุณภาพข้อมูลทันที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ส่งออกไฟล์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CSV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เข้าสู่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AI Pipeline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ได้ทันที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5" name="Picture 4" descr="diagram_7_collectdata_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803" y="1828800"/>
            <a:ext cx="7161197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Leelawadee UI"/>
              </a:defRPr>
            </a:pPr>
            <a:r>
              <a:t>06 / TINYML MODEL DEVELOPMENT</a:t>
            </a:r>
          </a:p>
          <a:p>
            <a:pPr>
              <a:defRPr sz="2200" b="1">
                <a:solidFill>
                  <a:srgbClr val="0F172A"/>
                </a:solidFill>
                <a:latin typeface="Leelawadee UI"/>
              </a:defRPr>
            </a:pPr>
            <a:r>
              <a:t>ขั้นตอนการพัฒนาโมเดลปัญญาประดิษฐ์ขนาดเล็ก (TinyML Pipeline)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42062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840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Leelawadee UI"/>
              </a:defRPr>
            </a:pPr>
            <a:r>
              <a:t>การออกแบบ Feature และสถาปัตยกรรมโมเดล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t>1. สกัด 18 สถิติคุณลักษณะ (Feature Extraction):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t>  • Acc Mag (6 ค่า): Mean, Std, Max, Min, Range, RMS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t>  • Gyro Mag (6 ค่า): Mean, Std, Max, Min, Range, RMS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t>  • Az หรือแกนดิ่ง (6 ค่า): ตรวจสอบการเปลี่ยนทิศทาง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t>2. โครงข่ายประสาทเทียม Multi-Layer Perceptron: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t>  • Input Layer: 18 Nodes (18 Features)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t>  • Hidden Layer 1: 32 Nodes + ReLU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t>  • Hidden Layer 2: 16 Nodes + ReLU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t>  • Output Layer: 1 Node + Sigmoid (Fall Probability)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t>3. C++ Direct Export (ไม่ต้องใช้ TFLite Micro):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t>  • Export น้ำหนักเป็น Static Float Array ใน tinyml_model.h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t>  • ประหยัด Flash Memory เหลือเพียง &lt; 35 KB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t>  • ใช้ RAM ในการคำนวณน้อยกว่า 4 KB (เร็วระดับ 3 ms)</a:t>
            </a:r>
          </a:p>
        </p:txBody>
      </p:sp>
      <p:pic>
        <p:nvPicPr>
          <p:cNvPr id="5" name="Picture 4" descr="diagram_3_tinym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37461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Leelawadee UI"/>
              </a:defRPr>
            </a:pPr>
            <a:r>
              <a:t>07 / DUAL-GATING INFERENCE LOGIC</a:t>
            </a:r>
          </a:p>
          <a:p>
            <a:pPr>
              <a:defRPr sz="2200" b="1">
                <a:solidFill>
                  <a:srgbClr val="0F172A"/>
                </a:solidFill>
                <a:latin typeface="Leelawadee UI"/>
              </a:defRPr>
            </a:pPr>
            <a:r>
              <a:t>กลไกการตัดสินใจตรวจจับการล้มด้วย Dual-Gating Protection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42062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840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Leelawadee UI"/>
              </a:defRPr>
            </a:pPr>
            <a:r>
              <a:t>นวัตกรรมระบบคัดกรอง 2 ชั้น (Dual-Gating)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t>1. Gate 1: Physical Impact Guard (&gt;= 1.8G):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t>  • การล้มทางกายภาพจริงจะมีแรงกระแทกกระทบพื้นสูง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t>  • สแกนหาค่า Peak Mag สูงสุดใน 50 ตัวอย่างย้อนหลัง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t>  • หาก Peak &lt; 1.8G -&gt; ตัดสินเป็นกิจวัตรปกติทันที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t>  • ประโยชน์: ไม่ต้องรันโมเดล AI ประหยัดพลังงานแบตเตอรี่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t>2. Gate 2: TinyML Model Confidence (&gt;= 0.80):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t>  • เมื่อผ่านแรงกระแทก จะคำนวณโมเดล AI ทันที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t>  • โมเดลวิเคราะห์ความสัมพันธ์ของ 18 Features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t>  • ต้องได้ค่าความมั่นใจ &gt;= 80% จึงตัดสินว่าเกิดการล้ม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t>3. ผลลัพธ์: แก้ไขปัญหา False Alarm: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t>  • นั่งลงเร็วๆ หรือนอนลงเตียง (AI กรองได้)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t>  • หล่นหรือเคาะเบาๆ (Physical Guard กรองได้)</a:t>
            </a:r>
          </a:p>
        </p:txBody>
      </p:sp>
      <p:pic>
        <p:nvPicPr>
          <p:cNvPr id="5" name="Picture 4" descr="diagram_4_model_inferenc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00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Leelawadee UI"/>
              </a:defRPr>
            </a:pPr>
            <a:r>
              <a:rPr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08 / HARDWARE ARCHITECTURE</a:t>
            </a:r>
          </a:p>
          <a:p>
            <a:pPr>
              <a:defRPr sz="2200" b="1">
                <a:solidFill>
                  <a:srgbClr val="0F172A"/>
                </a:solidFill>
                <a:latin typeface="Leelawadee UI"/>
              </a:defRPr>
            </a:pPr>
            <a:r>
              <a:rPr sz="4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สถาปัตยกรรมฮาร์ดแวร์และการจัดการมัลติทาสก์</a:t>
            </a:r>
            <a:r>
              <a:rPr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</a:t>
            </a:r>
            <a:r>
              <a:rPr sz="4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FreeRTOS</a:t>
            </a:r>
            <a:r>
              <a:rPr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Dual-Core)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42062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84048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การแบ่งงานระหว่าง 2 แกนประมวลผล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1. Core 1: Sensor &amp; AI Engine (High Priority):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  • รัน FreeRTOS Task อัตราสุ่ม 25 Hz คงที่แน่นอน (40ms)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  • จัดการ FIFO Circular Buffer 50 ตัวอย่าง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  • ตรวจสอบ Physical Impact Guard และรัน TinyML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  • ป้องกันการกระตุก (Jitter-free) ไม่ถูกขัดจังหวะด้วยเน็ต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2. Core 0: Connectivity &amp; Cloud Telemetry: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  • รับผิดชอบ Wi-Fi Manager, Firebase Realtime Database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  • ยิงแจ้งเตือนผ่าน Telegram Bot API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  • ระบบค้นหาพิกัดสำรอง Wi-Fi Geolocation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  • เว็บเซิร์ฟเวอร์ตั้งค่าฉุกเฉิน (Config AP)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3. Inter-Core Queue (FreeRTOS Queue):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  • ส่ง Event การล้มข้ามคอร์แบบ Thread-safe</a:t>
            </a:r>
          </a:p>
        </p:txBody>
      </p:sp>
      <p:pic>
        <p:nvPicPr>
          <p:cNvPr id="5" name="Picture 4" descr="diagram_5_hardware_dual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255" y="1508760"/>
            <a:ext cx="7330601" cy="43525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diagram_5_hardware_dualcore.png">
            <a:extLst>
              <a:ext uri="{FF2B5EF4-FFF2-40B4-BE49-F238E27FC236}">
                <a16:creationId xmlns:a16="http://schemas.microsoft.com/office/drawing/2014/main" id="{E1869ECA-CC7E-5BE7-989C-E90271885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90704" cy="7416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974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00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Leelawadee UI"/>
              </a:defRPr>
            </a:pPr>
            <a:r>
              <a:rPr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09 / WEB APPLICATION</a:t>
            </a:r>
          </a:p>
          <a:p>
            <a:pPr>
              <a:defRPr sz="2200" b="1">
                <a:solidFill>
                  <a:srgbClr val="0F172A"/>
                </a:solidFill>
                <a:latin typeface="Leelawadee UI"/>
              </a:defRPr>
            </a:pPr>
            <a:r>
              <a:rPr sz="4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สถาปัตยกรรมและฟังก์ชันการทำงานของ</a:t>
            </a:r>
            <a:r>
              <a:rPr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4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CareGuard</a:t>
            </a:r>
            <a:r>
              <a:rPr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Web App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42062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6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840480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Leelawadee UI"/>
              </a:defRPr>
            </a:pPr>
            <a:r>
              <a:rPr>
                <a:latin typeface="TH SarabunPSK" panose="020B0500040200020003" pitchFamily="34" charset="-34"/>
                <a:cs typeface="TH SarabunPSK" panose="020B0500040200020003" pitchFamily="34" charset="-34"/>
              </a:rPr>
              <a:t>ฟังก์ชันหลักของ CareGuard Web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1. Real-time Telemetry Dashboard: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  • แสดงสถานะการเชื่อมต่อ และระดับแบตเตอรี่แบบสด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  • ซิงก์ข้อมูลสองทิศทางผ่าน Firebase RTDB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2. Interactive Live Map: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  • แสดงพิกัดล่าสุดของผู้สูงอายุบน Google Maps / Leaflet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  • อัปเดตพิกัดทันทีเมื่อเกิดเหตุล้ม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3. Cancel Alert System (ปุ่มกดยกเลิก):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  • มีหน้าต่างนับถอยหลัง 15 วินาทียกเลิกการแจ้งเตือน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  • ช่วยให้ผู้ดูแลหรือผู้สูงอายุยกเลิกได้หากไม่เป็นไร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4. Fall Incident Log &amp; Health Profile: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  • เก็บบันทึกประวัติการล้มย้อนหลัง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  • จัดการข้อมูลติดต่อแพทย์และเบอร์โทรฉุกเฉิน</a:t>
            </a:r>
          </a:p>
        </p:txBody>
      </p:sp>
      <p:pic>
        <p:nvPicPr>
          <p:cNvPr id="5" name="Picture 4" descr="diagram_2_webapp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37461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Leelawadee UI"/>
              </a:defRPr>
            </a:pPr>
            <a:r>
              <a:rPr sz="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10 / EMERGENCY ALERT &amp; TELEMETRY</a:t>
            </a:r>
          </a:p>
          <a:p>
            <a:pPr>
              <a:defRPr sz="2200" b="1">
                <a:solidFill>
                  <a:srgbClr val="0F172A"/>
                </a:solidFill>
                <a:latin typeface="Leelawadee UI"/>
              </a:defRPr>
            </a:pPr>
            <a:r>
              <a:rPr sz="4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ระบบแจ้งเตือนฉุกเฉินผ่าน</a:t>
            </a:r>
            <a:r>
              <a:rPr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Telegram </a:t>
            </a:r>
            <a:r>
              <a:rPr sz="4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และพิกัดสำรอง</a:t>
            </a:r>
            <a:endParaRPr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42900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3063240" cy="247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Telegram Bot Instant Alert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ส่งข้อความแจ้งเตือนเข้าสมาร์ทโฟนของญาติทันที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(&lt; 2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วินาที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ระบุเวลาที่เกิดเหตุ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ค่าความแรงของการล้ม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(G-Force)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มีลิงก์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Google Maps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ให้กดนำทางไปยังจุดเกิดเหตุได้ทันที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รองรับทั้งแชทส่วนตัวและกลุ่มครอบครัว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43400" y="1645920"/>
            <a:ext cx="342900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26280" y="1874520"/>
            <a:ext cx="3063240" cy="247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Buzzer Countdown &amp; Cancel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• เมื่อตรวจพบการล้ม อุปกรณ์จะส่งเสียงสัญญาณเตือนดังเป็นจังหวะ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• มีเวลานับถอยหลัง 15 วินาที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• ผู้สูงอายุสามารถกดปุ่มบนตัวอุปกรณ์ หรือกดยกเลิกบนหน้าเว็บ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• หากไม่มีการกดยกเลิก ระบบจะส่งสัญญาณฉุกเฉินระดับสูงสุด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955280" y="1645920"/>
            <a:ext cx="342900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60" y="1874520"/>
            <a:ext cx="3063240" cy="271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Wi-Fi Geolocation Fallback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• ปัญหา GPS ในอาคาร: สัญญาณดาวเทียมไม่สามารถทะลุผนังปูนได้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• นวัตกรรม: ดึง BSSID ของสัญญาณ Wi-Fi รอบตัว 3 อันดับแรก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• ยิง Query พิกัดผ่าน Geolocation API เพื่อระบุตำแหน่งในบ้าน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• ทำให้ระบุตำแหน่งได้แม่นยำแม้ผู้สูงอายุล้มอยู่ในห้องน้ำ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Leelawadee UI"/>
              </a:defRPr>
            </a:pPr>
            <a:r>
              <a:rPr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11 / EXPERIMENTAL EVALUATION</a:t>
            </a:r>
          </a:p>
          <a:p>
            <a:pPr>
              <a:defRPr sz="2200" b="1">
                <a:solidFill>
                  <a:srgbClr val="0F172A"/>
                </a:solidFill>
                <a:latin typeface="Leelawadee UI"/>
              </a:defRPr>
            </a:pPr>
            <a:r>
              <a:rPr sz="4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ผลการทดสอบประสิทธิภาพการตรวจจับและการใช้ทรัพยากร</a:t>
            </a:r>
            <a:endParaRPr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120640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Leelawadee UI"/>
              </a:defRPr>
            </a:pP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เปรียบเทียบประสิทธิภาพการตรวจจับ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(Accuracy Comparison)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เกณฑ์ทดสอบ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(100 Fall + 200 ADL)  Threshold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เดิม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-&gt;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CareGuard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(Dual-Gating)</a:t>
            </a:r>
          </a:p>
          <a:p>
            <a:pPr>
              <a:spcBef>
                <a:spcPts val="600"/>
              </a:spcBef>
              <a:defRPr sz="1100" b="0">
                <a:solidFill>
                  <a:srgbClr val="1E293B"/>
                </a:solidFill>
                <a:latin typeface="Leelawadee UI"/>
              </a:defRPr>
            </a:pP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ความแม่นยำ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(Accuracy):  78.3 % -&gt; 96.7 %</a:t>
            </a:r>
          </a:p>
          <a:p>
            <a:pPr>
              <a:spcBef>
                <a:spcPts val="600"/>
              </a:spcBef>
              <a:defRPr sz="1100" b="0">
                <a:solidFill>
                  <a:srgbClr val="1E293B"/>
                </a:solidFill>
                <a:latin typeface="Leelawadee UI"/>
              </a:defRPr>
            </a:pP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ความไวตรวจจับล้ม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(Sensitivity / Recall):  84.0 % -&gt; 98.0 %</a:t>
            </a:r>
          </a:p>
          <a:p>
            <a:pPr>
              <a:spcBef>
                <a:spcPts val="600"/>
              </a:spcBef>
              <a:defRPr sz="1100" b="0">
                <a:solidFill>
                  <a:srgbClr val="1E293B"/>
                </a:solidFill>
                <a:latin typeface="Leelawadee UI"/>
              </a:defRPr>
            </a:pP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ความจำเพาะต่อกิจวัตร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(Specificity):  75.5 % -&gt; 96.0 %</a:t>
            </a:r>
          </a:p>
          <a:p>
            <a:pPr>
              <a:spcBef>
                <a:spcPts val="600"/>
              </a:spcBef>
              <a:defRPr sz="1100" b="0">
                <a:solidFill>
                  <a:srgbClr val="1E293B"/>
                </a:solidFill>
                <a:latin typeface="Leelawadee UI"/>
              </a:defRPr>
            </a:pP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อัตราแจ้งเตือนผิดพลาด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(False Alarm Rate):  24.5 % -&gt; 4.0 %</a:t>
            </a:r>
          </a:p>
          <a:p>
            <a:pPr>
              <a:spcBef>
                <a:spcPts val="600"/>
              </a:spcBef>
              <a:defRPr sz="1100" b="0">
                <a:solidFill>
                  <a:srgbClr val="1E293B"/>
                </a:solidFill>
                <a:latin typeface="Leelawadee UI"/>
              </a:defRPr>
            </a:pP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การตรวจจับการนั่งลงเร็วๆ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บนโซฟา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แจ้งเตือนผิดบ่อย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-&gt;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ไม่แจ้งเตือน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ผ่าน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</a:p>
          <a:p>
            <a:pPr>
              <a:spcBef>
                <a:spcPts val="600"/>
              </a:spcBef>
              <a:defRPr sz="1100" b="0">
                <a:solidFill>
                  <a:srgbClr val="1E293B"/>
                </a:solidFill>
                <a:latin typeface="Leelawadee UI"/>
              </a:defRPr>
            </a:pP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การตรวจจับการก้มหยิบของ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/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นอนลงเตียง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มีแจ้งเตือนผิด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-&gt;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ไม่แจ้งเตือน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ผ่าน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45920"/>
            <a:ext cx="49377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75120" y="1828800"/>
            <a:ext cx="4572000" cy="331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  <a:latin typeface="Leelawadee UI"/>
              </a:defRPr>
            </a:pP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การใช้ทรัพยากรบนไมโครคอนโทรลเลอร์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ESP32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ความเร็วในการประมวลผลโมเดล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(Inference Time):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เพียง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~3.2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มิลลิวินาที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คำนวณเสร็จทันทีในรอบ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40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ms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การใช้พื้นที่จัดเก็บโปรแกรม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(Flash Memory):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รวม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FreeRTOS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+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WiFi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+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TinyML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ใช้เพียง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~32 KB (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ไม่เกิน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3%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ของ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ESP32)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การใช้หน่วยความจำชั่วคราว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(SRAM Usage):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ใช้เพียง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~3.8 KB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ในการรันโมเดลและ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Circular Buffer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การประหยัดพลังงาน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(Power Efficiency):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โหมดสแตนด์บายตรวจจับ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กินกระแสเพียง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~45-65 mA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ไม่ต้องรัน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AI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ตลอดเวลา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ข้ามไปได้เมื่อแรงไม่ถึง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1.8G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ใช้งานต่อเนื่องได้ยาวนานด้วยแบตเตอรี่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Li-Po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00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Leelawadee UI"/>
              </a:defRPr>
            </a:pPr>
            <a:r>
              <a:rPr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12 / KEY CONTRIBUTIONS</a:t>
            </a:r>
          </a:p>
          <a:p>
            <a:pPr>
              <a:defRPr sz="2200" b="1">
                <a:solidFill>
                  <a:srgbClr val="0F172A"/>
                </a:solidFill>
                <a:latin typeface="Leelawadee UI"/>
              </a:defRPr>
            </a:pPr>
            <a:r>
              <a:rPr sz="4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จุดเด่น</a:t>
            </a:r>
            <a:r>
              <a:rPr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4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นวัตกรรม</a:t>
            </a:r>
            <a:r>
              <a:rPr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4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และประโยชน์ของโครงงาน</a:t>
            </a:r>
            <a:r>
              <a:rPr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4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CareGuard</a:t>
            </a:r>
            <a:endParaRPr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578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9204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1. Dual-Gating Protection System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ระบบคัดกรอง 2 ชั้นที่ผสานฟิสิกส์ (แรงกระแทก &gt;= 1.8G) เข้ากับปัญญาประดิษฐ์ (TinyML &gt;= 80%) แก้ไขปัญหาการเตือนผิดพลาด (False Alarm) ได้อย่างเด็ดขาด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72200" y="1645920"/>
            <a:ext cx="52578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89204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2. Pure Edge Computing (ประมวลผลบนชิป 100%)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โมเดล AI ถูกแปลงเป็น C++ Static Array ในตัว รันได้ทันทีบน ESP32 โดยไม่ต้องพึ่งพาสัญญาณอินเทอร์เน็ตในการตัดสินใจ และรักษาความเป็นส่วนตัวของผู้สูงอายุ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1520" y="4023360"/>
            <a:ext cx="5257800" cy="731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489204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3. FreeRTOS Dual-Core Architecture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สถาปัตยกรรมสองแกนประมวลผลแยกอิสระ Core 1 รันเซ็นเซอร์ 25Hz สม่ำเสมอ ไม่มีการสะดุดแม้ Core 0 จะกำลังเชื่อมต่อ Wi-Fi หรือส่งข้อความขึ้นคลาวด์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02336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72200" y="4023360"/>
            <a:ext cx="52578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55080" y="4160520"/>
            <a:ext cx="489204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4. Low Cost &amp; Multi-Channel Alert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ต้นทุนฮาร์ดแวร์ต่ำ เข้าถึงได้ง่ายสำหรับครอบครัวทั่วไป พร้อมระบบแจ้งเตือน 3 ทาง: ออดเตือนที่ตัว, ส่งไลน์/เทเลแกรมเข้ามือถือ และแดชบอร์ดบนเว็บ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00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Leelawadee UI"/>
              </a:defRPr>
            </a:pPr>
            <a:r>
              <a:rPr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13 / CONCLUSION &amp; FUTURE WORK</a:t>
            </a:r>
          </a:p>
          <a:p>
            <a:pPr>
              <a:defRPr sz="2200" b="1">
                <a:solidFill>
                  <a:srgbClr val="0F172A"/>
                </a:solidFill>
                <a:latin typeface="Leelawadee UI"/>
              </a:defRPr>
            </a:pPr>
            <a:r>
              <a:rPr sz="4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สรุปผลการดำเนินงานและแนวทางการพัฒนาต่อยอด</a:t>
            </a:r>
            <a:endParaRPr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3611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Leelawadee UI"/>
              </a:defRPr>
            </a:pPr>
            <a:r>
              <a:rPr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สรุปผลสัมฤทธิ์ของโครงงาน</a:t>
            </a:r>
            <a:endParaRPr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1.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บรรลุวัตถุประสงค์การพัฒนาฮาร์ดแวร์สวมใส่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สร้างอุปกรณ์ต้นแบบ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CareGuard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ทำงานสม่ำเสมอด้วย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FreeRTOS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รองรับการชาร์จและใช้งานต่อเนื่องแบบพกพา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2.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พัฒนาและฝังโมเดล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TinyML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สำเร็จ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100%: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โมเดล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MLP 18 Features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มีขนาดกะทัดรัด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ทำงานได้เร็ว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3.2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ms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ความแม่นยำสูงถึง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96.7%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และอัตราความไวตรวจจับล้ม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98.0%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3.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แก้ปัญหา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False Alarm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ได้เด็ดขาด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กลไก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Dual-Gating Protection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ช่วยลดอัตราแจ้งเตือนผิดเหลือเพียง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4%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4.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ระบบคลาวด์และแจ้งเตือนครบวงจร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แจ้งเตือน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Telegram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ทันใจใน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2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วินาที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พร้อมพิกัดแผนที่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•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แดชบอร์ดเว็บ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CareGuard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ช่วยผู้ดูแลเฝ้าระวังผู้สูงอายุแบบเรียลไทม์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3611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Leelawadee UI"/>
              </a:defRPr>
            </a:pPr>
            <a:r>
              <a:rPr>
                <a:latin typeface="TH SarabunPSK" panose="020B0500040200020003" pitchFamily="34" charset="-34"/>
                <a:cs typeface="TH SarabunPSK" panose="020B0500040200020003" pitchFamily="34" charset="-34"/>
              </a:rPr>
              <a:t>แนวทางการพัฒนาต่อยอดในอนาคต (Future Work)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1. การสื่อสารผ่านสัญญาณเซลลูลาร์ (4G LTE-M / NB-IoT):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  • ช่วยให้อุปกรณ์ส่งสัญญาณขอความช่วยเหลือได้แม้อยู่นอกบ้าน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  • ไม่จำเป็นต้องพึ่งพา Wi-Fi ภายในอาคารเพียงอย่างเดียว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2. การผสานเซ็นเซอร์วัดสัญญาณชีพ (PPG Heart Rate Sensor):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  • วัดอัตราการเต้นของหัวใจและความอิ่มตัวของออกซิเจน (SpO2)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  • ช่วยประเมินภาวะช็อกหรือหัวใจหยุดเต้นหลังการล้มได้ทันที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3. การจำแนกทิศทางและลักษณะการล้ม (Multi-class Classification):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  • พัฒนาโมเดลให้แยกประเภทการล้ม (ล้มหัวฟาด, ล้มก้นกระแทก)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  • เพื่อส่งข้อมูลให้หน่วยแพทย์ฉุกเฉินเตรียมอุปกรณ์ได้ตรงจุด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4. ออกแบบตัวเรือนกันน้ำระดับการแพทย์ (IP67 Waterproof Enclosure):</a:t>
            </a:r>
          </a:p>
          <a:p>
            <a:pPr>
              <a:spcBef>
                <a:spcPts val="400"/>
              </a:spcBef>
              <a:defRPr sz="1100" b="0">
                <a:solidFill>
                  <a:srgbClr val="64748B"/>
                </a:solidFill>
                <a:latin typeface="Leelawadee UI"/>
              </a:defRPr>
            </a:pPr>
            <a:r>
              <a:rPr sz="1600">
                <a:latin typeface="TH SarabunPSK" panose="020B0500040200020003" pitchFamily="34" charset="-34"/>
                <a:cs typeface="TH SarabunPSK" panose="020B0500040200020003" pitchFamily="34" charset="-34"/>
              </a:rPr>
              <a:t>  • รองรับการสวมใส่ขณะอาบน้ำ ซึ่งเป็นจุดที่เกิดการล้มบ่อยที่สุด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011680"/>
            <a:ext cx="9418320" cy="2387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A5E9"/>
                </a:solidFill>
                <a:latin typeface="Leelawadee UI"/>
              </a:defRPr>
            </a:pPr>
            <a:r>
              <a:rPr sz="1600" dirty="0">
                <a:latin typeface="Ink Free" panose="03080402000500000000" pitchFamily="66" charset="0"/>
              </a:rPr>
              <a:t>THANK YOU FOR YOUR ATTENTION</a:t>
            </a:r>
          </a:p>
          <a:p>
            <a:pPr algn="ctr">
              <a:spcBef>
                <a:spcPts val="1000"/>
              </a:spcBef>
              <a:defRPr sz="3200" b="1">
                <a:solidFill>
                  <a:srgbClr val="FFFFFF"/>
                </a:solidFill>
                <a:latin typeface="Leelawadee UI"/>
              </a:defRPr>
            </a:pPr>
            <a:r>
              <a:rPr sz="7200" dirty="0" err="1">
                <a:latin typeface="Ink Free" panose="03080402000500000000" pitchFamily="66" charset="0"/>
              </a:rPr>
              <a:t>ขอขอบพระคุณคณะกรรมการทุกท่าน</a:t>
            </a:r>
            <a:endParaRPr sz="7200" dirty="0">
              <a:latin typeface="Ink Free" panose="03080402000500000000" pitchFamily="66" charset="0"/>
            </a:endParaRPr>
          </a:p>
          <a:p>
            <a:pPr algn="ctr">
              <a:spcBef>
                <a:spcPts val="1000"/>
              </a:spcBef>
              <a:defRPr sz="1600">
                <a:solidFill>
                  <a:srgbClr val="CBD5E1"/>
                </a:solidFill>
                <a:latin typeface="Leelawadee UI"/>
              </a:defRPr>
            </a:pPr>
            <a:r>
              <a:rPr dirty="0" err="1">
                <a:latin typeface="Ink Free" panose="03080402000500000000" pitchFamily="66" charset="0"/>
              </a:rPr>
              <a:t>CareGuard</a:t>
            </a:r>
            <a:r>
              <a:rPr dirty="0">
                <a:latin typeface="Ink Free" panose="03080402000500000000" pitchFamily="66" charset="0"/>
              </a:rPr>
              <a:t>: </a:t>
            </a:r>
            <a:r>
              <a:rPr dirty="0" err="1">
                <a:latin typeface="Ink Free" panose="03080402000500000000" pitchFamily="66" charset="0"/>
              </a:rPr>
              <a:t>ระบบตรวจจับการล้มของผู้สูงอายุอัจฉริยะด้วย</a:t>
            </a:r>
            <a:r>
              <a:rPr dirty="0">
                <a:latin typeface="Ink Free" panose="03080402000500000000" pitchFamily="66" charset="0"/>
              </a:rPr>
              <a:t> </a:t>
            </a:r>
            <a:r>
              <a:rPr dirty="0" err="1">
                <a:latin typeface="Ink Free" panose="03080402000500000000" pitchFamily="66" charset="0"/>
              </a:rPr>
              <a:t>TinyML</a:t>
            </a:r>
            <a:endParaRPr dirty="0">
              <a:latin typeface="Ink Free" panose="03080402000500000000" pitchFamily="66" charset="0"/>
            </a:endParaRPr>
          </a:p>
          <a:p>
            <a:pPr algn="ctr">
              <a:spcBef>
                <a:spcPts val="1500"/>
              </a:spcBef>
              <a:defRPr sz="1400">
                <a:solidFill>
                  <a:srgbClr val="0EA5E9"/>
                </a:solidFill>
                <a:latin typeface="Leelawadee UI"/>
              </a:defRPr>
            </a:pPr>
            <a:r>
              <a:rPr sz="1600" dirty="0" err="1">
                <a:latin typeface="Ink Free" panose="03080402000500000000" pitchFamily="66" charset="0"/>
              </a:rPr>
              <a:t>พร้อมรับฟังข้อเสนอแนะและตอบข้อซักถาม</a:t>
            </a:r>
            <a:r>
              <a:rPr sz="1600" dirty="0">
                <a:latin typeface="Ink Free" panose="03080402000500000000" pitchFamily="66" charset="0"/>
              </a:rPr>
              <a:t> (Questions &amp; Answers)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2536</Words>
  <Application>Microsoft Office PowerPoint</Application>
  <PresentationFormat>แบบจอกว้าง</PresentationFormat>
  <Paragraphs>225</Paragraphs>
  <Slides>16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16</vt:i4>
      </vt:variant>
    </vt:vector>
  </HeadingPairs>
  <TitlesOfParts>
    <vt:vector size="21" baseType="lpstr">
      <vt:lpstr>Arial</vt:lpstr>
      <vt:lpstr>Calibri</vt:lpstr>
      <vt:lpstr>Ink Free</vt:lpstr>
      <vt:lpstr>TH SarabunPSK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earth themail</cp:lastModifiedBy>
  <cp:revision>2</cp:revision>
  <dcterms:created xsi:type="dcterms:W3CDTF">2013-01-27T09:14:16Z</dcterms:created>
  <dcterms:modified xsi:type="dcterms:W3CDTF">2026-09-21T08:23:24Z</dcterms:modified>
  <cp:category/>
</cp:coreProperties>
</file>